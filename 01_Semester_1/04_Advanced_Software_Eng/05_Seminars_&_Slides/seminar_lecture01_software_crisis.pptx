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Foundations of Software Engineering &amp; The Software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Lecture 01: Systems Evolution, Catastrophic Failures, and Academic Taxonomy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Candidate: Master of Computer Science Student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Instructor: Asst. Prof. Dr. Ali Fahim Ni'ma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Institution: College of Computer Science &amp; IT — University of Wasit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Date: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The Dual Role &amp; Socio-Technical Nature of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Dual Essence of Modern Software: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1. Software as a Product: Transforms data, executes business logic, and powers cyber-physical devices.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2. Software as a Vehicle: Acts as the operational platform controlling hardware, operating systems, and communications infrastructure.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The Socio-Technical Reality (Sommerville):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Software does not operate in an abstract mathematical bubble.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A complete system includes code, operational processes, and human psychology.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Organizational misalignments cause catastrophic system collapses just as easily as runtime exceptions.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Case Study: Dhahran Patriot Missile Failure (1991)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The Disaster: On Feb 25, 1991, an Iraqi Scud missile struck US barracks in Dhahran, killing 28 soldiers after the Patriot battery failed to engage.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The Mathematical Root Cause: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System clock incremented in integer tenths of a second (0.1 s).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Converted to seconds by multiplying by a 24-bit fixed-point register truncation of 1/10.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Truncation error: Delta t = 0.000000095 seconds per tick.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Cumulative Drift over 100 Hours: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Total Drift = 3,600,000 * 0.000000095367 s = 0.3433 seconds.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Tracking Consequence: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Scud traveling at Mach 5 (1,676 m/s) -&gt; Radar Range Gate shifted by ~687 meters.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The radar looked where the missile was half a kilometer earlier and dismissed the track.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Brooks' Thesis: "No Silver Bullet" (1986)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i="1">
                <a:solidFill>
                  <a:srgbClr val="475569"/>
                </a:solidFill>
              </a:defRPr>
            </a:pPr>
            <a:r>
              <a:t>“ "There is no single development, in either technology or management technique, which by itself promises even one order of magnitude (10x) improvement in productivity, in reliability, in simplicity, within a decade." ”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Essential Complexity (Inherent to the problem domain):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Complexity: Software entities are composed of vast non-identical interacting parts; scaling is non-linear.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Conformity: Software must conform to arbitrary human institutions and legacy interfaces.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Changeability: Continuous pressure to change due to perceived malleability of code.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Invisibility: Software has no geometric spatial representation; topological webs cannot be drawn in 3D.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Accidental Complexity (Associated with current realization):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Language syntax, manual compilation, memory management, and primitive editors.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Past advances (High-level languages, IDEs, garbage collection) solved accidental complexity.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What Software Truly Is: The Tripartite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Software is not merely executable code written by a programmer: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Software = Programs + Data Structures + Complete Documentation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1. Programs (Code):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Modular, maintainable, and covered by automated test suites.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2. Data Structures: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Schemas, state representations, relational and in-memory data models.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3. Comprehensive Documentation: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Architectural specifications: Requirements (SRS, ISO 29148), Architectural Views (IEEE 42010), ADRs.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Operational documentation: Deployment pipelines, monitoring playbooks, disaster recovery runbooks.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User documentation: Operational manuals, training guides, and API contracts.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Defining Software Engineering &amp; The Software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IEEE Standard 610.12 Definition: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"The application of a systematic, disciplined, quantifiable approach to the development, operation, and maintenance of software; that is, the application of engineering to software."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The Four Universal Process Activities (Sommerville &amp; Pressman):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1. Specification: Defining system capabilities and operational boundaries.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2. Development: Architectural design, component decomposition, and coding.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3. Validation: Verification (Building the product right?) and Validation (Building the right product?).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4. Evolution: Adapting software to changing operational, security, and market requirements.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The Software Crisis: Genesis &amp; The IBM OS/360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Coined at NATO Conference (Garmisch, 1968):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Projects chronically over budget (200% to 500%), years behind schedule, and untrustworthy.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Maintenance costs escalating to consume 70% to 80% of total IT budgets.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The IBM System/360 Experience (Fred Brooks):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Consumed 5,000+ man-years and over $50,000,000.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Suffered years of schedule delays and thousands of latent defect releases.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Brooks' Law: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"Adding human resources to a late software project makes it later."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New developers require training from existing experts.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Inter-team communication channels grow quadratically: C = N(N - 1) /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Debunking Software Myths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Persistent Industry Myth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Empirical Software Engineering Reality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Management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"If we fall behind schedule, we can just hire more programmers."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Brooks' Law: Increases communication overhead and training drag, causing further delay.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"A vague general objective is enough; we can work out details later."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Ambiguous requirements are the #1 cause of software failure and architectural rework.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Developer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"Once the code compiles and runs, our job as engineers is complete."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Post-delivery maintenance accounts for 60% to 80% of the entire system lifecycle cost.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"The working program is the only deliverable that matters."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Code without documentation is a maintenance disaster that guarantees technical bankruptcy.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Core Terminology Taxonomy: Dependability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Under formal IEEE 610.12 and Laprie / Avizienis standards: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Error (Human Mistake):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Mental slip, cognitive misunderstanding of requirements, or algorithmic oversight by a human.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Fault / Defect (Static Flaw):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An incorrect step, process, or data definition residing silently in code or documentation.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A fault remains dormant until an execution path triggers it.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Failure (Dynamic Breakdown):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An observable deviation of the software service from its specified expected behavior at runtime.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Causal Chain: Human Error -&gt; Static Fault/Defect -&gt; Internal Error State -&gt; Observable Failure.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Professional Ethics &amp; Open Defense Viva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ACM/IEEE Code of Ethics (8 Core Principles):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1. Public | 2. Client and Employer | 3. Product | 4. Judgment | 5. Management | 6. Profession | 7. Colleagues | 8. Self.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Open Viva Defense Questions (Dr. Ali Fahim):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1. How does the Patriot missile failure demonstrate that software maintenance is often more hazardous than initial greenfield development?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2. Why does Brooks argue that solving accidental complexity (e.g. AI code generation, higher-level frameworks) will never eliminate the software crisis?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3. Under the ACM/IEEE code of ethics, what is an engineer's professional duty when pressured by management to ship software with known latent faults?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73a7ce90a88511f19d76d7bc1d76d6bc" pid="2" fmtid="{D5CDD505-2E9C-101B-9397-08002B2CF9AE}">
    <vt:lpwstr>CWMKuCX5SV1UQL2tw46chOcCHkgHjME0rI0HRBJFFMyFH4dVBmnh2Bbwo/cOPn1ZUe6fzhHtDFD/4IjH68FerVl9w==</vt:lpwstr>
  </property>
</Properties>
</file>